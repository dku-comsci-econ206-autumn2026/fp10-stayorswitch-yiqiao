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be37b781be41ba" /><Relationship Type="http://schemas.openxmlformats.org/officeDocument/2006/relationships/extended-properties" Target="/docProps/app.xml" Id="Rd93dee63d9e04cc1" /><Relationship Type="http://schemas.openxmlformats.org/officeDocument/2006/relationships/officeDocument" Target="/ppt/presentation.xml" Id="R379cca6309b8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4e96050e914672"/>
  </p:sldMasterIdLst>
  <p:notesMasterIdLst>
    <p:notesMasterId xmlns:r="http://schemas.openxmlformats.org/officeDocument/2006/relationships" r:id="R000b9c0b42684a4e"/>
  </p:notesMasterIdLst>
  <p:sldIdLst>
    <p:sldId xmlns:r="http://schemas.openxmlformats.org/officeDocument/2006/relationships" id="256" r:id="Ra9569c90fdbf4181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e555d10d24584" /><Relationship Type="http://schemas.openxmlformats.org/officeDocument/2006/relationships/slideMaster" Target="/ppt/slideMasters/slideMaster1.xml" Id="Rcd4e96050e914672" /><Relationship Type="http://schemas.openxmlformats.org/officeDocument/2006/relationships/notesMaster" Target="/ppt/notesMasters/notesMaster1.xml" Id="R000b9c0b42684a4e" /><Relationship Type="http://schemas.openxmlformats.org/officeDocument/2006/relationships/presProps" Target="/ppt/presProps.xml" Id="Ra98c767ad2444854" /><Relationship Type="http://schemas.openxmlformats.org/officeDocument/2006/relationships/tableStyles" Target="/ppt/tableStyles.xml" Id="R893ab51eb4274fa6" /><Relationship Type="http://schemas.openxmlformats.org/officeDocument/2006/relationships/slide" Target="/ppt/slides/slide1.xml" Id="Ra9569c90fdbf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f8025610a43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3ca07b9fc4644" /><Relationship Type="http://schemas.openxmlformats.org/officeDocument/2006/relationships/notesMaster" Target="/ppt/notesMasters/notesMaster1.xml" Id="R676c5a1949c547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COMSCI/ECON 206 PS2 clean A0 poster template.</a:t>
            </a:r>
          </a:p>
          <a:p xmlns:a="http://schemas.openxmlformats.org/drawingml/2006/main">
            <a:r>
              <a:t>Brand guide: https://dku-web-admissions.s3.cn-north-1.amazonaws.com.cn/dkumain/wp-content/uploads/mainsite/2022/05/brand-guide-compressed_2021.pdf, linked from https://www.dukekunshan.edu.cn/media/. Guide pp. 5, 6, 12, 14, and 15 establish logo clear space/proportions, unchanged logo artwork, application colors #003399 and #006633 plus white, and Calibri as the office system font when InterstatePlus cannot be used. Official logo asset: https://www.dukekunshan.edu.cn/wp-content/uploads/2021/08/large_dku-Logo.png.</a:t>
            </a:r>
          </a:p>
          <a:p xmlns:a="http://schemas.openxmlformats.org/drawingml/2006/main">
            <a:r>
              <a:t>Calibri is specified in the editable PowerPoint. The exported PDF uses Carlito, a metric-compatible open-source substitute because Calibri is unavailable in the export environment. Re-export from PowerPoint with Calibri for institution-font-exact output.</a:t>
            </a:r>
          </a:p>
          <a:p xmlns:a="http://schemas.openxmlformats.org/drawingml/2006/main">
            <a:r>
              <a:t>Clean and annotated versions share all element positions. Keep A0 landscape 1189 x 841 mm, 100% print scale. Text and figure/QR placeholders are editable; preserve the embedded logo unchanged and keep at least half its height as clear space. Instructor belongs below authors, not in the author list. Replace all placeholders with actual work; distinguish observed results, inferences, and planned tests. QR codes are optional but full public URLs and tested access are required. References must be full and traceable; acknowledgments must name actual contributions and AI assistance. Sep 28: symposium, peer evaluation and real-world case impacts. Sep 30: final update. The PS1-style paper, LaTeX, and learning pathway are unchanged.</a:t>
            </a:r>
          </a:p>
          <a:p xmlns:a="http://schemas.openxmlformats.org/drawingml/2006/main">
            <a:r>
              <a:t>
Poster evidence record, review-ready v1:
Paper baseline: commit 43a2941184d8130852af3c1f88fc90e8b2fd9fc6.
Model/output evidence: outputs and tests in https://github.com/dku-comsci-econ206-Autumn2026/FP10-StayOrSwitch-Yiqiao; historical baseline f9523b0.
Public URLs returned HTTP 200 on 2026-09-27: https://huggingface.co/spaces/mickeystk/ps2-stay-or-switch-memory-portability and https://github.com/dku-comsci-econ206-Autumn2026/FP10-StayOrSwitch-Yiqiao.
QR targets were generated locally and decoded back to the displayed URLs.
No participant result, symposium feedback, or classroom auction-play evidence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2bde8000848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c06c4008e84221" /><Relationship Type="http://schemas.openxmlformats.org/officeDocument/2006/relationships/slideLayout" Target="/ppt/slideLayouts/slideLayout1.xml" Id="R3f68583aac33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68583aac33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64d64ff174009" /><Relationship Type="http://schemas.openxmlformats.org/officeDocument/2006/relationships/image" Target="/ppt/media/image.png" Id="R02061a2b3fae4b4d" /><Relationship Type="http://schemas.openxmlformats.org/officeDocument/2006/relationships/hyperlink" Target="https://huggingface.co/spaces/mickeystk/ps2-stay-or-switch-memory-portability" TargetMode="External" Id="R9842e4bf0d0f4b12" /><Relationship Type="http://schemas.openxmlformats.org/officeDocument/2006/relationships/hyperlink" Target="https://github.com/dku-comsci-econ206-Autumn2026/FP10-StayOrSwitch-Yiqiao" TargetMode="External" Id="R14ed4fb935e4422e" /><Relationship Type="http://schemas.openxmlformats.org/officeDocument/2006/relationships/image" Target="/ppt/media/image2.png" Id="R9a07f428b8ff422d" /><Relationship Type="http://schemas.openxmlformats.org/officeDocument/2006/relationships/image" Target="/ppt/media/image3.png" Id="R7dd02a0cbf4c4ad9" /><Relationship Type="http://schemas.openxmlformats.org/officeDocument/2006/relationships/notesSlide" Target="/ppt/notesSlides/notesSlide1.xml" Id="R7596308b067649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5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REVIEW-READY V1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81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1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Stay or Switch? Strategic Memory Portability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81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1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 Competing AI Assistants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 (Mickey), solo team, Team FP10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61a2b3fae4b4d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Portability can be socially valuable yet strategically absent. At the benchmark, lock-in and low-type portability are both pure Bayesian equilibria, while user switching remains an untested behavioral question.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600"/>
              </a:spcAft>
              <a:buNone/>
              <a:defRPr sz="26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Shared question: </a:t>
            </a:r>
            <a:r>
              <a:rPr sz="26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When do competing AI assistants with private implementation costs supply portable memory, and when does that availability improve user mobility?</a:t>
            </a:r>
          </a:p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6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Verified gap: </a:t>
            </a:r>
            <a:r>
              <a:rPr sz="26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Switching-cost and compatibility research explains lock-in, but does not jointly test this Bayesian game, its welfare and incentive comparisons, and AI-user choice [1, 3].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48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Players and timing: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Two platforms privately observe cost cᵢ in {.2, 1.2}, with Pr(cᵢ=.2)=.7, then simultaneously choose Portable (P) or Locked (L).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48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Payoffs: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EU(P|c)=3q-1-c and EU(L|c)=q.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25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Solution concept: </a:t>
            </a:r>
            <a:r>
              <a:rPr sz="255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Bayesian Nash equilibrium fits private types [2]. Direct enumeration checks all 16 strategy profiles.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38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Exactly two pure BNE, (LL,LL) and (PL,PL). The low-type mixed probability is 6/7.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8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At m=1, welfare is 0, 2.17, and 4 for LL, PL, and PP. PP is a comparator, not a BNE.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40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design: </a:t>
            </a:r>
            <a:r>
              <a:rPr sz="24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At p=.4, benefit τ=.4 weakly sustains PL. LL remains weak through τ=1.2.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Mapping: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One primary-assistant slot and two iid U[0,1] platform values.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Rules: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First price uses b(v;r)=(v²+r²)/(2v). Second price uses truthful bids [4].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34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Comparison: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Lowering the assumed reserve from .50 to .20 raises allocation from .75193 to .96004. Conditional efficiency is 1.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Boundary: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This is an allocation analogy. The user is not auctioned.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5DCE2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2917805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One evidence chain links platform incentives, reproducible verification, and a bounded future user test.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2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0010120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Table 1.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Verified outputs in the canonical FP10 repository.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Interpretation: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Portability can improve the collective comparator and allocation access while equilibrium multiplicity remains.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34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Verification: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PyGambit agreement, 85/85 tests, and seed 20603.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1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 status: </a:t>
            </a:r>
            <a:r>
              <a:rPr sz="21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Platform results are analytical or simulated. The user test has no participant data.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impact: a real-world case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Case: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A student or writer moving years of assistant context between platforms.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Decision: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Whether institutions and platforms should support secure export and import.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Potential benefit: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Lower switching friction and greater contestability.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45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Risks: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Privacy leakage, incomplete transfer, and inaccessible tools.</a:t>
            </a:r>
          </a:p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47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 before adoption: </a:t>
            </a:r>
            <a:r>
              <a:rPr sz="247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Transfer fidelity, security, access, and switching outcomes.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Interdisciplinary evidence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0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Behavioral science: Hugging Face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Twelve fixed scenarios compare initial and final Stay/Switch choices around g&gt;r. Six predict each choice. The Space stores page-session aggregates only. No participant conclusion.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60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Computer science: GitHub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Direct enumeration, a PyGambit cross-check, integer-built sweeps, a seeded auction simulation, and 85/85 tests make every result inspectable.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Integration
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The public artifact tests whether modeled portability translates into user mobility without changing the platform game.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Limitations &amp; next test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42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Main limit: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Normalized costs and reserves are assumptions, not market estimates. The public Space has no participant dataset.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42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Next test: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Compare switching across portability scenarios while measuring privacy and personalization concerns.</a:t>
            </a:r>
          </a:p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325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Symposium question: </a:t>
            </a:r>
            <a:r>
              <a:rPr sz="2325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Which omitted concern is most likely to overturn the benchmark?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28  Symposium, peer evaluation &amp; case impact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30  Final update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Zhang. Official PS2 template, open-source Python and PyGambit tools, and OpenAI Codex assistance for drafting, implementation, and QA. Yiqiao Liu remains responsible for all claims.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79750"/>
            <a:ext cx="1419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[1] Farrell, J., &amp; Klemperer, P. (2007). Coordination and lock-in. Handbook of Industrial Organization. doi:10.1016/S1573-448X(06)03031-7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[2] Harsanyi, J. C. (1968). Games with incomplete information, II. Management Science, 14(5), 320-334. doi:10.1287/mnsc.14.5.320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[3] Jeon, D.-S., Menicucci, D., &amp; Nasr, N. (2023). Compatibility choices, switching costs, and data portability. AEJ Microeconomics, 15(1), 30-73. doi:10.1257/mic.20200309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3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[4] Vickrey, W. (1961). Counterspeculation, auctions, and competitive sealed tenders. Journal of Finance, 16(1), 8-37. doi:10.1111/j.1540-6261.1961.tb02789.x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8336875"/>
            <a:ext cx="838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260"/>
              </a:spcAft>
              <a:buNone/>
              <a:defRPr sz="13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 Face: </a:t>
            </a:r>
            <a:r>
              <a:rPr sz="1350" u="sng">
                <a:solidFill>
                  <a:srgbClr val="212A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842e4bf0d0f4b12"/>
              </a:rPr>
              <a:t>https://huggingface.co/spaces/mickeystk/ps2-stay-or-switch-memory-portability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GitHub: </a:t>
            </a:r>
            <a:r>
              <a:rPr sz="1350" u="sng">
                <a:solidFill>
                  <a:srgbClr val="212A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4ed4fb935e4422e"/>
              </a:rPr>
              <a:t>https://github.com/dku-comsci-econ206-Autumn2026/FP10-StayOrSwitch-Yiqiao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42" y="2929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HF</a:t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67" y="29298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GH</a:t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0"/>
            <a:ext cx="4013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A0 landscape, 1189 × 841 mm. Editable PPTX and PDF. Actual evidence remains separate from planned tests.</a:t>
            </a:r>
          </a:p>
        </p:txBody>
      </p:sp>
      <p:sp>
        <p:nvSpPr>
          <p:cNvPr id="54" name="diagram-economics">
            <a:extLst xmlns:a="http://schemas.openxmlformats.org/drawingml/2006/main">
              <a:ext uri="{FF2B5EF4-FFF2-40B4-BE49-F238E27FC236}">
                <a16:creationId xmlns:a16="http://schemas.microsoft.com/office/drawing/2014/main" id="{7543723B-D402-44DF-85CE-0A88C516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Economics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Private costs
BNE, welfare, incentive</a:t>
            </a:r>
          </a:p>
        </p:txBody>
      </p:sp>
      <p:sp>
        <p:nvSpPr>
          <p:cNvPr id="55" name="diagram-computation">
            <a:extLst xmlns:a="http://schemas.openxmlformats.org/drawingml/2006/main">
              <a:ext uri="{FF2B5EF4-FFF2-40B4-BE49-F238E27FC236}">
                <a16:creationId xmlns:a16="http://schemas.microsoft.com/office/drawing/2014/main" id="{B25036BC-C3E1-4C59-B515-EC2C842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Computation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16 profiles, PyGambit
sweeps, seeded auction</a:t>
            </a:r>
          </a:p>
        </p:txBody>
      </p:sp>
      <p:sp>
        <p:nvSpPr>
          <p:cNvPr id="56" name="diagram-behavior">
            <a:extLst xmlns:a="http://schemas.openxmlformats.org/drawingml/2006/main">
              <a:ext uri="{FF2B5EF4-FFF2-40B4-BE49-F238E27FC236}">
                <a16:creationId xmlns:a16="http://schemas.microsoft.com/office/drawing/2014/main" id="{FB4D2C59-D5D3-4E2D-AF25-AD4F046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25" y="11811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  <a:prstDash val="solid"/>
          </a:ln>
        </p:spPr>
        <p:txBody>
          <a:bodyPr xmlns:a="http://schemas.openxmlformats.org/drawingml/2006/main" lIns="95250" tIns="11430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Behavior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>
                <a:latin typeface="Calibri"/>
                <a:ea typeface="Calibri"/>
                <a:cs typeface="Calibri"/>
              </a:defRPr>
            </a:pPr>
            <a:r>
              <a:rPr sz="270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12 fixed scenarios
no participant inference</a:t>
            </a:r>
          </a:p>
        </p:txBody>
      </p:sp>
      <p:cxnSp>
        <p:nvCxnSpPr>
          <p:cNvPr id="117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18049875" y="12620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33"/>
            </a:solidFill>
            <a:prstDash val="solid"/>
            <a:head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2907625" y="12620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33"/>
            </a:solidFill>
            <a:prstDash val="solid"/>
            <a:headEnd type="triangle" w="sm" len="sm"/>
          </a:ln>
        </p:spPr>
      </p:cxnSp>
      <p:sp>
        <p:nvSpPr>
          <p:cNvPr id="59" name="diagram-synthesis">
            <a:extLst xmlns:a="http://schemas.openxmlformats.org/drawingml/2006/main">
              <a:ext uri="{FF2B5EF4-FFF2-40B4-BE49-F238E27FC236}">
                <a16:creationId xmlns:a16="http://schemas.microsoft.com/office/drawing/2014/main" id="{2100C076-2164-40A6-9B30-E5919447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3858875"/>
            <a:ext cx="1423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Availability, collective value, and user adoption require distinct evidence.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13668375" y="17954625"/>
          <a:ext xmlns:a="http://schemas.openxmlformats.org/drawingml/2006/main" cx="15478125" cy="571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9239250"/>
                <a:gridCol w="3667125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Verified output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114300" marR="114300" marT="85725" marB="66675" anchor="ctr">
                    <a:solidFill>
                      <a:srgbClr val="003399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Pure BNE: (LL,LL) and (PL,PL). Low-type mix: 6/7.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Analytical and computed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Welfare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At m=1: WLL=0, WPL=2.17, WPP=4.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PP is a comparator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Incentive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At p=.4, τ=.4 sustains PL. LL remains weak through τ=1.2.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Threshold sweep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03399"/>
                          </a:solidFill>
                          <a:latin typeface="Calibri"/>
                          <a:ea typeface="Calibri"/>
                          <a:cs typeface="Calibri"/>
                        </a:rPr>
                        <a:t>Auction</a:t>
                      </a:r>
                    </a:p>
                  </a:txBody>
                  <a:tcPr marL="114300" marR="114300" marT="76200" marB="762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>
                          <a:solidFill>
                            <a:srgbClr val="212A33"/>
                          </a:solidFill>
                          <a:latin typeface="Calibri"/>
                          <a:ea typeface="Calibri"/>
                          <a:cs typeface="Calibri"/>
                        </a:rPr>
                        <a:t>Allocation is .75193 at r=.50 and .96004 at r=.20.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75">
                          <a:solidFill>
                            <a:srgbClr val="006633"/>
                          </a:solidFill>
                          <a:latin typeface="Calibri"/>
                          <a:ea typeface="Calibri"/>
                          <a:cs typeface="Calibri"/>
                        </a:rPr>
                        <a:t>N=100,000, seed 20603</a:t>
                      </a:r>
                    </a:p>
                  </a:txBody>
                  <a:tcPr marL="114300" marR="114300" marT="76200" marB="76200" anchor="ctr">
                    <a:solidFill>
                      <a:srgbClr val="F0F7F3"/>
                    </a:solidFill>
                  </a:tcPr>
                </a:tc>
              </a:tr>
            </a:tbl>
          </a:graphicData>
        </a:graphic>
      </p:graphicFrame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7f428b8ff422d"/>
          <a:stretch xmlns:a="http://schemas.openxmlformats.org/drawingml/2006/main"/>
        </p:blipFill>
        <p:spPr>
          <a:xfrm xmlns:a="http://schemas.openxmlformats.org/drawingml/2006/main">
            <a:off x="39232142" y="28403550"/>
            <a:ext cx="876300" cy="876300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02a0cbf4c4ad9"/>
          <a:stretch xmlns:a="http://schemas.openxmlformats.org/drawingml/2006/main"/>
        </p:blipFill>
        <p:spPr>
          <a:xfrm xmlns:a="http://schemas.openxmlformats.org/drawingml/2006/main">
            <a:off x="40498967" y="28403550"/>
            <a:ext cx="87630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2026-09-27T05:55:31.0510000Z</dcterms:created>
  <dcterms:modified xsi:type="dcterms:W3CDTF">2026-09-27T05:55:31.0510000Z</dcterms:modified>
</coreProperties>
</file>